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21:25:58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4019 0 24198,'-4018'3107'0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21:26:04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24093,'0'379'0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21:26:09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24575,'17'-1'0,"0"-1"0,29-7 0,9 0 0,244 2-42,-191 8-1281,-85-1-5503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21:26:15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23619,'109'3431'0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21:26:19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24575,'4'9'0,"16"17"0,13 9 0,6 7 0,1 1 0,-1-2 0,-4-8 0,-7-5 0,-4-7 0,-6-3 0,-6-4-8191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21:26:21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0 439 24575,'0'-6'0,"1"0"0,-1 1 0,1-1 0,1 0 0,-1 0 0,1 1 0,0-1 0,0 1 0,0 0 0,1-1 0,0 1 0,0 0 0,0 1 0,1-1 0,6-7 0,5-2 0,1-1 0,1 2 0,19-12 0,-18 13 0,-1-1 0,24-22 0,-27 16-60,0 0 1,0-1-1,-2 0 0,-1-1 0,0 0 0,7-24 0,-4 14-886,-4 9-5880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21:27:13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24236,'4054'2325'0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21:26:39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21:26:40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21:27:16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24575,'0'5'0,"0"5"0,0 7 0,0 8 0,5 15 0,6 14 0,6 11 0,-1 0 0,-2-7 0,-4-9 0,-3-7 0,1-7 0,4 4 0,5 5 0,-1 0 0,2-8 0,-3-5 0,-3-8-8191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21:27:24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592 28 24575,'-384'0'0,"361"-1"45,0-1-1,-34-8 1,-25-3-1544,60 12-5327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21:54:18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4755 1 23726,'-4754'2275'0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21:54:45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24153,'6566'1622'0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21:54:52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21:55:11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24575,'0'23'0,"1"0"0,6 35 0,1-5 0,114 621 0,44 0 0,-128-525 0,18 156 0,27 154-218,-60-345-929,-5-28-5679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22:16:46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4647 0 24086,'-4646'2242'0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22:16:55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24316,'4810'2485'0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1504CE6-89D2-4583-B77E-57A84D880D0C}" type="datetimeFigureOut">
              <a:rPr lang="ar-EG" smtClean="0"/>
              <a:t>06/11/1447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1797-F8CC-4DF0-9376-DA4705E134C5}" type="slidenum">
              <a:rPr lang="ar-EG" smtClean="0"/>
              <a:t>‹#›</a:t>
            </a:fld>
            <a:endParaRPr lang="ar-EG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0349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4CE6-89D2-4583-B77E-57A84D880D0C}" type="datetimeFigureOut">
              <a:rPr lang="ar-EG" smtClean="0"/>
              <a:t>06/11/1447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1797-F8CC-4DF0-9376-DA4705E134C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58015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4CE6-89D2-4583-B77E-57A84D880D0C}" type="datetimeFigureOut">
              <a:rPr lang="ar-EG" smtClean="0"/>
              <a:t>06/11/1447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1797-F8CC-4DF0-9376-DA4705E134C5}" type="slidenum">
              <a:rPr lang="ar-EG" smtClean="0"/>
              <a:t>‹#›</a:t>
            </a:fld>
            <a:endParaRPr lang="ar-EG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817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4CE6-89D2-4583-B77E-57A84D880D0C}" type="datetimeFigureOut">
              <a:rPr lang="ar-EG" smtClean="0"/>
              <a:t>06/11/1447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1797-F8CC-4DF0-9376-DA4705E134C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93296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4CE6-89D2-4583-B77E-57A84D880D0C}" type="datetimeFigureOut">
              <a:rPr lang="ar-EG" smtClean="0"/>
              <a:t>06/11/1447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1797-F8CC-4DF0-9376-DA4705E134C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98879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4CE6-89D2-4583-B77E-57A84D880D0C}" type="datetimeFigureOut">
              <a:rPr lang="ar-EG" smtClean="0"/>
              <a:t>06/11/1447</a:t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1797-F8CC-4DF0-9376-DA4705E134C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23126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4CE6-89D2-4583-B77E-57A84D880D0C}" type="datetimeFigureOut">
              <a:rPr lang="ar-EG" smtClean="0"/>
              <a:t>06/11/1447</a:t>
            </a:fld>
            <a:endParaRPr lang="ar-E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1797-F8CC-4DF0-9376-DA4705E134C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67483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4CE6-89D2-4583-B77E-57A84D880D0C}" type="datetimeFigureOut">
              <a:rPr lang="ar-EG" smtClean="0"/>
              <a:t>06/11/1447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1797-F8CC-4DF0-9376-DA4705E134C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044557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4CE6-89D2-4583-B77E-57A84D880D0C}" type="datetimeFigureOut">
              <a:rPr lang="ar-EG" smtClean="0"/>
              <a:t>06/11/1447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1797-F8CC-4DF0-9376-DA4705E134C5}" type="slidenum">
              <a:rPr lang="ar-EG" smtClean="0"/>
              <a:t>‹#›</a:t>
            </a:fld>
            <a:endParaRPr lang="ar-EG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999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4CE6-89D2-4583-B77E-57A84D880D0C}" type="datetimeFigureOut">
              <a:rPr lang="ar-EG" smtClean="0"/>
              <a:t>06/11/1447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1797-F8CC-4DF0-9376-DA4705E134C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400413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4CE6-89D2-4583-B77E-57A84D880D0C}" type="datetimeFigureOut">
              <a:rPr lang="ar-EG" smtClean="0"/>
              <a:t>06/11/1447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1797-F8CC-4DF0-9376-DA4705E134C5}" type="slidenum">
              <a:rPr lang="ar-EG" smtClean="0"/>
              <a:t>‹#›</a:t>
            </a:fld>
            <a:endParaRPr lang="ar-EG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021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1504CE6-89D2-4583-B77E-57A84D880D0C}" type="datetimeFigureOut">
              <a:rPr lang="ar-EG" smtClean="0"/>
              <a:t>06/11/1447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7721797-F8CC-4DF0-9376-DA4705E134C5}" type="slidenum">
              <a:rPr lang="ar-EG" smtClean="0"/>
              <a:t>‹#›</a:t>
            </a:fld>
            <a:endParaRPr lang="ar-EG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763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1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r" defTabSz="914400" rtl="1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0.png"/><Relationship Id="rId18" Type="http://schemas.openxmlformats.org/officeDocument/2006/relationships/customXml" Target="../ink/ink9.xml"/><Relationship Id="rId3" Type="http://schemas.openxmlformats.org/officeDocument/2006/relationships/image" Target="../media/image5.png"/><Relationship Id="rId21" Type="http://schemas.openxmlformats.org/officeDocument/2006/relationships/customXml" Target="../ink/ink11.xml"/><Relationship Id="rId7" Type="http://schemas.openxmlformats.org/officeDocument/2006/relationships/image" Target="../media/image7.png"/><Relationship Id="rId12" Type="http://schemas.openxmlformats.org/officeDocument/2006/relationships/customXml" Target="../ink/ink6.xml"/><Relationship Id="rId17" Type="http://schemas.openxmlformats.org/officeDocument/2006/relationships/image" Target="../media/image12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10" Type="http://schemas.openxmlformats.org/officeDocument/2006/relationships/customXml" Target="../ink/ink5.xml"/><Relationship Id="rId19" Type="http://schemas.openxmlformats.org/officeDocument/2006/relationships/customXml" Target="../ink/ink10.xml"/><Relationship Id="rId4" Type="http://schemas.openxmlformats.org/officeDocument/2006/relationships/customXml" Target="../ink/ink2.xml"/><Relationship Id="rId9" Type="http://schemas.openxmlformats.org/officeDocument/2006/relationships/image" Target="../media/image8.png"/><Relationship Id="rId14" Type="http://schemas.openxmlformats.org/officeDocument/2006/relationships/customXml" Target="../ink/ink7.xml"/><Relationship Id="rId22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15.png"/><Relationship Id="rId7" Type="http://schemas.openxmlformats.org/officeDocument/2006/relationships/image" Target="../media/image12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5" Type="http://schemas.openxmlformats.org/officeDocument/2006/relationships/image" Target="../media/image16.png"/><Relationship Id="rId4" Type="http://schemas.openxmlformats.org/officeDocument/2006/relationships/customXml" Target="../ink/ink13.xml"/><Relationship Id="rId9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customXml" Target="../ink/ink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2AE8E50-35D4-4D5A-A4BB-168CBB027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6">
            <a:extLst>
              <a:ext uri="{FF2B5EF4-FFF2-40B4-BE49-F238E27FC236}">
                <a16:creationId xmlns:a16="http://schemas.microsoft.com/office/drawing/2014/main" id="{C37D1D6D-17D8-4296-B000-665D1892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396" y="1276539"/>
            <a:ext cx="5570417" cy="4304276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26E892-1320-40AA-9CA1-246721C18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8592" y="620720"/>
            <a:ext cx="7323231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A5AC55-0E47-0A22-E3A8-4BAB6C46B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3224" y="1105351"/>
            <a:ext cx="6353967" cy="302398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 rtl="0"/>
            <a:r>
              <a:rPr lang="en-US" sz="4800" spc="200" dirty="0">
                <a:solidFill>
                  <a:srgbClr val="FFFFFF"/>
                </a:solidFill>
              </a:rPr>
              <a:t>: </a:t>
            </a:r>
            <a:r>
              <a:rPr lang="en-US" sz="4800" spc="200" dirty="0" err="1">
                <a:solidFill>
                  <a:srgbClr val="FFFFFF"/>
                </a:solidFill>
              </a:rPr>
              <a:t>الاسم</a:t>
            </a:r>
            <a:r>
              <a:rPr lang="en-US" sz="4800" spc="200" dirty="0">
                <a:solidFill>
                  <a:srgbClr val="FFFFFF"/>
                </a:solidFill>
              </a:rPr>
              <a:t>  </a:t>
            </a:r>
            <a:br>
              <a:rPr lang="en-US" sz="4800" spc="200" dirty="0">
                <a:solidFill>
                  <a:srgbClr val="FFFFFF"/>
                </a:solidFill>
              </a:rPr>
            </a:br>
            <a:r>
              <a:rPr lang="en-US" sz="4800" spc="200" dirty="0" err="1">
                <a:solidFill>
                  <a:srgbClr val="FFFFFF"/>
                </a:solidFill>
              </a:rPr>
              <a:t>مي</a:t>
            </a:r>
            <a:r>
              <a:rPr lang="en-US" sz="4800" spc="200" dirty="0">
                <a:solidFill>
                  <a:srgbClr val="FFFFFF"/>
                </a:solidFill>
              </a:rPr>
              <a:t> </a:t>
            </a:r>
            <a:r>
              <a:rPr lang="en-US" sz="4800" spc="200" dirty="0" err="1">
                <a:solidFill>
                  <a:srgbClr val="FFFFFF"/>
                </a:solidFill>
              </a:rPr>
              <a:t>ابراهيم</a:t>
            </a:r>
            <a:r>
              <a:rPr lang="en-US" sz="4800" spc="200" dirty="0">
                <a:solidFill>
                  <a:srgbClr val="FFFFFF"/>
                </a:solidFill>
              </a:rPr>
              <a:t> </a:t>
            </a:r>
            <a:r>
              <a:rPr lang="en-US" sz="4800" spc="200" dirty="0" err="1">
                <a:solidFill>
                  <a:srgbClr val="FFFFFF"/>
                </a:solidFill>
              </a:rPr>
              <a:t>احمد</a:t>
            </a:r>
            <a:r>
              <a:rPr lang="en-US" sz="4800" spc="200" dirty="0">
                <a:solidFill>
                  <a:srgbClr val="FFFFFF"/>
                </a:solidFill>
              </a:rPr>
              <a:t> </a:t>
            </a:r>
            <a:r>
              <a:rPr lang="en-US" sz="4800" spc="200" dirty="0" err="1">
                <a:solidFill>
                  <a:srgbClr val="FFFFFF"/>
                </a:solidFill>
              </a:rPr>
              <a:t>عبد</a:t>
            </a:r>
            <a:r>
              <a:rPr lang="en-US" sz="4800" spc="200" dirty="0">
                <a:solidFill>
                  <a:srgbClr val="FFFFFF"/>
                </a:solidFill>
              </a:rPr>
              <a:t> </a:t>
            </a:r>
            <a:r>
              <a:rPr lang="en-US" sz="4800" spc="200" dirty="0" err="1">
                <a:solidFill>
                  <a:srgbClr val="FFFFFF"/>
                </a:solidFill>
              </a:rPr>
              <a:t>الرحيم</a:t>
            </a:r>
            <a:br>
              <a:rPr lang="en-US" sz="4800" spc="200" dirty="0">
                <a:solidFill>
                  <a:srgbClr val="FFFFFF"/>
                </a:solidFill>
              </a:rPr>
            </a:br>
            <a:r>
              <a:rPr lang="en-US" sz="4800" spc="200" dirty="0">
                <a:solidFill>
                  <a:srgbClr val="FFFFFF"/>
                </a:solidFill>
              </a:rPr>
              <a:t> </a:t>
            </a:r>
            <a:br>
              <a:rPr lang="en-US" sz="4800" spc="200" dirty="0">
                <a:solidFill>
                  <a:srgbClr val="FFFFFF"/>
                </a:solidFill>
              </a:rPr>
            </a:br>
            <a:r>
              <a:rPr lang="en-US" sz="4800" spc="200" dirty="0" err="1">
                <a:solidFill>
                  <a:srgbClr val="FFFFFF"/>
                </a:solidFill>
              </a:rPr>
              <a:t>سكشن</a:t>
            </a:r>
            <a:r>
              <a:rPr lang="en-US" sz="4800" spc="200" dirty="0">
                <a:solidFill>
                  <a:srgbClr val="FFFFFF"/>
                </a:solidFill>
              </a:rPr>
              <a:t>  </a:t>
            </a:r>
            <a:r>
              <a:rPr lang="ar-EG" sz="4800" spc="200" dirty="0">
                <a:solidFill>
                  <a:srgbClr val="FFFFFF"/>
                </a:solidFill>
              </a:rPr>
              <a:t>: 9</a:t>
            </a:r>
            <a:br>
              <a:rPr lang="en-US" sz="4800" spc="200" dirty="0">
                <a:solidFill>
                  <a:srgbClr val="FFFFFF"/>
                </a:solidFill>
              </a:rPr>
            </a:br>
            <a:endParaRPr lang="en-US" sz="4800" spc="200" dirty="0">
              <a:solidFill>
                <a:srgbClr val="FFFFFF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A1F79C-E4D1-4AAE-BA11-3A0900525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42932" y="4214336"/>
            <a:ext cx="51206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170DF7D-4686-4BD5-A9CD-C89649284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000" y="-2"/>
            <a:ext cx="16459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353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AE8E50-35D4-4D5A-A4BB-168CBB027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C37D1D6D-17D8-4296-B000-665D1892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396" y="1276539"/>
            <a:ext cx="5570417" cy="4304276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26E892-1320-40AA-9CA1-246721C18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8592" y="620720"/>
            <a:ext cx="7323231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96EC43-E38E-2A5A-DDE7-6A50846EE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224" y="1105351"/>
            <a:ext cx="6353967" cy="3023981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Project Name : </a:t>
            </a:r>
            <a:endParaRPr lang="ar-EG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C96A6-F384-91EA-7C7E-30CEAFE8F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3224" y="4297556"/>
            <a:ext cx="6353968" cy="1433391"/>
          </a:xfrm>
        </p:spPr>
        <p:txBody>
          <a:bodyPr anchor="t"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N-Puzzle</a:t>
            </a:r>
            <a:endParaRPr lang="ar-EG" b="1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A1F79C-E4D1-4AAE-BA11-3A0900525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42932" y="4214336"/>
            <a:ext cx="51206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170DF7D-4686-4BD5-A9CD-C89649284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000" y="-2"/>
            <a:ext cx="16459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85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32DC26D-8B9B-4CC1-B3CC-D3EA0FB16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eces on carrom board">
            <a:extLst>
              <a:ext uri="{FF2B5EF4-FFF2-40B4-BE49-F238E27FC236}">
                <a16:creationId xmlns:a16="http://schemas.microsoft.com/office/drawing/2014/main" id="{4A66C148-0913-0AD5-3A50-56D03599E1F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7488" r="-1" b="8221"/>
          <a:stretch>
            <a:fillRect/>
          </a:stretch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E4574D-E52E-9765-00EB-D7DF75749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684437" cy="5571066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Description : </a:t>
            </a:r>
            <a:endParaRPr lang="ar-EG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BB7ADC3-53A0-44F2-914A-78CADAF33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45" y="1828800"/>
            <a:ext cx="0" cy="3200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EEC9D-09CB-D02F-2A60-50977BA9D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1371" y="643467"/>
            <a:ext cx="6574112" cy="5571066"/>
          </a:xfrm>
        </p:spPr>
        <p:txBody>
          <a:bodyPr anchor="ctr">
            <a:normAutofit/>
          </a:bodyPr>
          <a:lstStyle/>
          <a:p>
            <a:r>
              <a:rPr lang="en-US" sz="2800" b="1" dirty="0"/>
              <a:t>The game is a board divided into squares , with an empty tile that the user can manually move to try and solve , or solve the game using informed algorithm , and I will implement it using a real image instead of numbers </a:t>
            </a:r>
            <a:r>
              <a:rPr lang="en-US" dirty="0"/>
              <a:t>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9847823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D31579-EB28-7464-301F-A7A786DC3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Why the project is chosen ? </a:t>
            </a:r>
            <a:endParaRPr lang="ar-EG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846BC-951C-8E6B-20C6-964618049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048" y="804333"/>
            <a:ext cx="6306003" cy="5249334"/>
          </a:xfrm>
        </p:spPr>
        <p:txBody>
          <a:bodyPr anchor="ctr">
            <a:normAutofit/>
          </a:bodyPr>
          <a:lstStyle/>
          <a:p>
            <a:r>
              <a:rPr lang="en-US" sz="4000" dirty="0"/>
              <a:t>Because , The project is a fun and interactive project , and it allow you to see the algorithm’s result step by step .</a:t>
            </a:r>
            <a:endParaRPr lang="ar-EG" sz="4000" dirty="0"/>
          </a:p>
        </p:txBody>
      </p:sp>
    </p:spTree>
    <p:extLst>
      <p:ext uri="{BB962C8B-B14F-4D97-AF65-F5344CB8AC3E}">
        <p14:creationId xmlns:p14="http://schemas.microsoft.com/office/powerpoint/2010/main" val="917248945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8EE7-D1DB-1AB2-637E-4786740AB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: </a:t>
            </a:r>
            <a:endParaRPr lang="ar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4C044-67F4-354D-5A71-795A3EDCA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/>
              <a:t> </a:t>
            </a:r>
            <a:r>
              <a:rPr lang="en-US" sz="3600" dirty="0">
                <a:solidFill>
                  <a:srgbClr val="0070C0"/>
                </a:solidFill>
              </a:rPr>
              <a:t>1 ) An interactive project suitable for teaching and demonstration in the field of Artificial Intelligence . </a:t>
            </a:r>
          </a:p>
          <a:p>
            <a:pPr algn="l"/>
            <a:endParaRPr lang="en-US" sz="3600" dirty="0">
              <a:solidFill>
                <a:srgbClr val="0070C0"/>
              </a:solidFill>
            </a:endParaRPr>
          </a:p>
          <a:p>
            <a:pPr algn="l"/>
            <a:r>
              <a:rPr lang="en-US" sz="3600" dirty="0">
                <a:solidFill>
                  <a:srgbClr val="0070C0"/>
                </a:solidFill>
              </a:rPr>
              <a:t>2 ) It demonstrates how to use informed search algorithm to solve real world problem </a:t>
            </a:r>
            <a:endParaRPr lang="ar-EG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7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3EC590-190D-DD36-B7CD-067DD362D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Project goal: </a:t>
            </a:r>
            <a:endParaRPr lang="ar-EG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25CFC-6DEA-9CA0-48FD-C9B94592F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048" y="804333"/>
            <a:ext cx="6306003" cy="5249334"/>
          </a:xfrm>
        </p:spPr>
        <p:txBody>
          <a:bodyPr anchor="ctr">
            <a:normAutofit/>
          </a:bodyPr>
          <a:lstStyle/>
          <a:p>
            <a:pPr algn="l"/>
            <a:r>
              <a:rPr lang="en-US" sz="2800" b="1" dirty="0">
                <a:solidFill>
                  <a:srgbClr val="0070C0"/>
                </a:solidFill>
              </a:rPr>
              <a:t>1 ) Solving the game automatically using informed Search algorithm . </a:t>
            </a:r>
          </a:p>
          <a:p>
            <a:pPr algn="l"/>
            <a:r>
              <a:rPr lang="en-US" sz="2800" b="1" dirty="0">
                <a:solidFill>
                  <a:srgbClr val="0070C0"/>
                </a:solidFill>
              </a:rPr>
              <a:t>2 ) Understanding the algorithm and how to use it .</a:t>
            </a:r>
          </a:p>
          <a:p>
            <a:pPr algn="l"/>
            <a:r>
              <a:rPr lang="en-US" sz="2800" b="1" dirty="0">
                <a:solidFill>
                  <a:srgbClr val="0070C0"/>
                </a:solidFill>
              </a:rPr>
              <a:t>3 ) Creating an N-Puzzle game with an image instead of numbers . </a:t>
            </a:r>
          </a:p>
          <a:p>
            <a:pPr algn="l"/>
            <a:r>
              <a:rPr lang="en-US" sz="2800" b="1" dirty="0">
                <a:solidFill>
                  <a:srgbClr val="0070C0"/>
                </a:solidFill>
              </a:rPr>
              <a:t>4 ) Visually demonstrating the solution step by step</a:t>
            </a:r>
            <a:endParaRPr lang="ar-EG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62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8CD2B798-7994-4548-A2BE-4AEF9C1A5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42" name="Oval 5">
            <a:extLst>
              <a:ext uri="{FF2B5EF4-FFF2-40B4-BE49-F238E27FC236}">
                <a16:creationId xmlns:a16="http://schemas.microsoft.com/office/drawing/2014/main" id="{E6162320-3B67-42BB-AF9D-939326E64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722E143-84C1-4F95-937C-78B92D281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2B5AF8E-A8F5-44F6-A878-BD9D09405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Rubrics cubes in metallic reflections">
            <a:extLst>
              <a:ext uri="{FF2B5EF4-FFF2-40B4-BE49-F238E27FC236}">
                <a16:creationId xmlns:a16="http://schemas.microsoft.com/office/drawing/2014/main" id="{53FF3319-1DEF-E658-B8C2-3259A1457D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3391" r="9091"/>
          <a:stretch>
            <a:fillRect/>
          </a:stretch>
        </p:blipFill>
        <p:spPr>
          <a:xfrm>
            <a:off x="-3274" y="975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67AD54-0989-518C-6E47-04EBEC2E3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rtl="0"/>
            <a:r>
              <a:rPr lang="en-US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Related Work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40FFD-0D0A-521C-08D1-F2473BDC7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0600" y="4960137"/>
            <a:ext cx="32004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Rubik’s Cube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2EEDFD0-E50B-4516-A185-DA1CE93EE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2087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D2B798-7994-4548-A2BE-4AEF9C1A5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11" name="Oval 5">
            <a:extLst>
              <a:ext uri="{FF2B5EF4-FFF2-40B4-BE49-F238E27FC236}">
                <a16:creationId xmlns:a16="http://schemas.microsoft.com/office/drawing/2014/main" id="{E6162320-3B67-42BB-AF9D-939326E64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22E143-84C1-4F95-937C-78B92D281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 abstract design with lines and financial symbols">
            <a:extLst>
              <a:ext uri="{FF2B5EF4-FFF2-40B4-BE49-F238E27FC236}">
                <a16:creationId xmlns:a16="http://schemas.microsoft.com/office/drawing/2014/main" id="{BD0AED7F-EBE0-2083-50E2-810E139225E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rcRect t="10389" r="-1" b="5002"/>
          <a:stretch>
            <a:fillRect/>
          </a:stretch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F01D4A-F542-085B-005F-159098CDC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rtl="0"/>
            <a:r>
              <a:rPr lang="en-US" sz="6600" kern="1200" cap="all" spc="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algorithm used in the project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BC57F-B9A0-3CC5-4544-B06863193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608" y="643467"/>
            <a:ext cx="3096926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1" dirty="0"/>
              <a:t>A* Search Algorithm </a:t>
            </a:r>
            <a:r>
              <a:rPr lang="en-US" sz="2000" dirty="0"/>
              <a:t>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828800"/>
            <a:ext cx="0" cy="320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650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7F8EC-61E9-602E-836E-9F18B573E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 for this project  : </a:t>
            </a:r>
            <a:endParaRPr lang="ar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CE08C-B527-4E85-74B8-39645F37F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sz="3200" dirty="0"/>
              <a:t>1) </a:t>
            </a:r>
            <a:r>
              <a:rPr lang="en-US" sz="3200" b="1" dirty="0">
                <a:solidFill>
                  <a:srgbClr val="002060"/>
                </a:solidFill>
              </a:rPr>
              <a:t>performance</a:t>
            </a:r>
            <a:r>
              <a:rPr lang="en-US" sz="3200" dirty="0">
                <a:solidFill>
                  <a:srgbClr val="002060"/>
                </a:solidFill>
              </a:rPr>
              <a:t>  :  </a:t>
            </a:r>
            <a:r>
              <a:rPr lang="en-US" sz="3200" dirty="0">
                <a:solidFill>
                  <a:srgbClr val="0070C0"/>
                </a:solidFill>
              </a:rPr>
              <a:t>fast solving , correct solution , minimum moves , and low memory usage .</a:t>
            </a:r>
          </a:p>
          <a:p>
            <a:pPr algn="l"/>
            <a:r>
              <a:rPr lang="en-US" sz="3200" b="1" dirty="0">
                <a:solidFill>
                  <a:srgbClr val="002060"/>
                </a:solidFill>
              </a:rPr>
              <a:t>2 ) Environment </a:t>
            </a:r>
            <a:r>
              <a:rPr lang="en-US" sz="3200" dirty="0">
                <a:solidFill>
                  <a:srgbClr val="0070C0"/>
                </a:solidFill>
              </a:rPr>
              <a:t>: puzzle board , image tiles and empty tile . </a:t>
            </a:r>
          </a:p>
          <a:p>
            <a:pPr algn="l"/>
            <a:r>
              <a:rPr lang="en-US" sz="3200" b="1" dirty="0">
                <a:solidFill>
                  <a:srgbClr val="002060"/>
                </a:solidFill>
              </a:rPr>
              <a:t>3 ) Actuator </a:t>
            </a:r>
            <a:r>
              <a:rPr lang="en-US" sz="3200" dirty="0">
                <a:solidFill>
                  <a:srgbClr val="0070C0"/>
                </a:solidFill>
              </a:rPr>
              <a:t>: Move up , Move down , Move left , Move Right .</a:t>
            </a:r>
          </a:p>
          <a:p>
            <a:pPr algn="l"/>
            <a:r>
              <a:rPr lang="en-US" sz="3200" b="1" dirty="0">
                <a:solidFill>
                  <a:srgbClr val="002060"/>
                </a:solidFill>
              </a:rPr>
              <a:t>4 ) Sensors </a:t>
            </a:r>
            <a:r>
              <a:rPr lang="en-US" sz="3200" dirty="0">
                <a:solidFill>
                  <a:srgbClr val="0070C0"/>
                </a:solidFill>
              </a:rPr>
              <a:t>: empty tile position , board state and goal detection </a:t>
            </a:r>
            <a:r>
              <a:rPr lang="en-US" dirty="0">
                <a:solidFill>
                  <a:srgbClr val="0070C0"/>
                </a:solidFill>
              </a:rPr>
              <a:t>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663790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F093E-DB64-49CB-1FC9-3E9A8A7F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ODESA for this project : </a:t>
            </a:r>
            <a:endParaRPr lang="ar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CDB38-7027-098F-0411-558D20EE8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sz="2800" dirty="0"/>
              <a:t>1 ) o : </a:t>
            </a:r>
            <a:r>
              <a:rPr lang="en-US" sz="2800" dirty="0">
                <a:solidFill>
                  <a:srgbClr val="00B0F0"/>
                </a:solidFill>
              </a:rPr>
              <a:t>Fully observable </a:t>
            </a:r>
            <a:r>
              <a:rPr lang="en-US" sz="2800" dirty="0"/>
              <a:t>.</a:t>
            </a:r>
          </a:p>
          <a:p>
            <a:pPr algn="l"/>
            <a:r>
              <a:rPr lang="en-US" sz="2800" dirty="0"/>
              <a:t>2 ) D : </a:t>
            </a:r>
            <a:r>
              <a:rPr lang="en-US" sz="2800" dirty="0">
                <a:solidFill>
                  <a:srgbClr val="00B0F0"/>
                </a:solidFill>
              </a:rPr>
              <a:t>Deterministic </a:t>
            </a:r>
            <a:r>
              <a:rPr lang="en-US" sz="2800" dirty="0"/>
              <a:t>.</a:t>
            </a:r>
          </a:p>
          <a:p>
            <a:pPr algn="l"/>
            <a:r>
              <a:rPr lang="en-US" sz="2800" dirty="0"/>
              <a:t>3 ) E : </a:t>
            </a:r>
            <a:r>
              <a:rPr lang="en-US" sz="2800" dirty="0">
                <a:solidFill>
                  <a:srgbClr val="00B0F0"/>
                </a:solidFill>
              </a:rPr>
              <a:t>Sequential</a:t>
            </a:r>
            <a:r>
              <a:rPr lang="en-US" sz="2800" dirty="0"/>
              <a:t> .</a:t>
            </a:r>
          </a:p>
          <a:p>
            <a:pPr algn="l"/>
            <a:r>
              <a:rPr lang="en-US" sz="2800" dirty="0"/>
              <a:t>4 ) S :</a:t>
            </a:r>
            <a:r>
              <a:rPr lang="en-US" sz="2800" dirty="0">
                <a:solidFill>
                  <a:srgbClr val="00B0F0"/>
                </a:solidFill>
              </a:rPr>
              <a:t>Static</a:t>
            </a:r>
            <a:r>
              <a:rPr lang="en-US" sz="2800" dirty="0"/>
              <a:t> . </a:t>
            </a:r>
          </a:p>
          <a:p>
            <a:pPr algn="l"/>
            <a:r>
              <a:rPr lang="en-US" sz="2800" dirty="0"/>
              <a:t>5 ) A : </a:t>
            </a:r>
            <a:r>
              <a:rPr lang="en-US" sz="2800" dirty="0">
                <a:solidFill>
                  <a:srgbClr val="00B0F0"/>
                </a:solidFill>
              </a:rPr>
              <a:t>Single Agent </a:t>
            </a:r>
            <a:r>
              <a:rPr lang="en-US" sz="2800" dirty="0"/>
              <a:t>. </a:t>
            </a:r>
          </a:p>
          <a:p>
            <a:pPr algn="l"/>
            <a:r>
              <a:rPr lang="en-US" sz="2800" dirty="0"/>
              <a:t>The game is </a:t>
            </a:r>
            <a:r>
              <a:rPr lang="en-US" sz="2800" dirty="0" err="1">
                <a:solidFill>
                  <a:srgbClr val="00B0F0"/>
                </a:solidFill>
              </a:rPr>
              <a:t>Dicrete</a:t>
            </a:r>
            <a:r>
              <a:rPr lang="en-US" sz="2800" dirty="0"/>
              <a:t> . </a:t>
            </a:r>
          </a:p>
          <a:p>
            <a:pPr algn="l"/>
            <a:r>
              <a:rPr lang="en-US" sz="2800" dirty="0">
                <a:solidFill>
                  <a:schemeClr val="accent2"/>
                </a:solidFill>
              </a:rPr>
              <a:t>The N-Puzzle is fully observable , Deterministic , Sequential , Static , Discrete and Single Agent .</a:t>
            </a:r>
            <a:r>
              <a:rPr lang="en-US" sz="2800" dirty="0"/>
              <a:t> </a:t>
            </a: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249555172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10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C0648FB-4388-443C-8D4E-4A9FF0336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D064E-5DCA-884D-9618-B70281A66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2671" y="4960137"/>
            <a:ext cx="4148329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Goal Based Reflex Agent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8D762E-DA8D-419A-BA44-68B93D3D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693B7C-2B7A-1FD9-0B11-B8E8E36FB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977048"/>
            <a:ext cx="9618133" cy="29609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sz="6000" spc="200" dirty="0">
                <a:solidFill>
                  <a:srgbClr val="FFFFFF"/>
                </a:solidFill>
              </a:rPr>
              <a:t>What is the type of agent program ?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F95953-8E19-4C01-997F-0E959B52B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552199" y="5234457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0129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DFD40-ABAC-00DB-2148-E8F1D83BF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392" y="559477"/>
            <a:ext cx="9720072" cy="1499616"/>
          </a:xfrm>
        </p:spPr>
        <p:txBody>
          <a:bodyPr/>
          <a:lstStyle/>
          <a:p>
            <a:r>
              <a:rPr lang="en-US" dirty="0"/>
              <a:t>PROBLEM FORMULATION</a:t>
            </a:r>
            <a:endParaRPr lang="ar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88814-1DB3-75B0-C3E7-E56EBF22D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392" y="2266545"/>
            <a:ext cx="9943809" cy="4042815"/>
          </a:xfrm>
        </p:spPr>
        <p:txBody>
          <a:bodyPr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2"/>
                </a:solidFill>
              </a:rPr>
              <a:t>Initial State :                                                   Goal State : </a:t>
            </a:r>
          </a:p>
          <a:p>
            <a:pPr marL="0" indent="0" algn="l">
              <a:buNone/>
            </a:pPr>
            <a:r>
              <a:rPr lang="en-US" dirty="0"/>
              <a:t>one of the random arrangement</a:t>
            </a:r>
          </a:p>
          <a:p>
            <a:pPr marL="0" indent="0" algn="l">
              <a:buNone/>
            </a:pPr>
            <a:r>
              <a:rPr lang="en-US" dirty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D392AB-95EE-0EAE-6761-6B539C701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403046"/>
              </p:ext>
            </p:extLst>
          </p:nvPr>
        </p:nvGraphicFramePr>
        <p:xfrm>
          <a:off x="800392" y="3429000"/>
          <a:ext cx="3316177" cy="1119654"/>
        </p:xfrm>
        <a:graphic>
          <a:graphicData uri="http://schemas.openxmlformats.org/drawingml/2006/table">
            <a:tbl>
              <a:tblPr rtl="1" bandRow="1">
                <a:tableStyleId>{5C22544A-7EE6-4342-B048-85BDC9FD1C3A}</a:tableStyleId>
              </a:tblPr>
              <a:tblGrid>
                <a:gridCol w="1152728">
                  <a:extLst>
                    <a:ext uri="{9D8B030D-6E8A-4147-A177-3AD203B41FA5}">
                      <a16:colId xmlns:a16="http://schemas.microsoft.com/office/drawing/2014/main" val="1629940822"/>
                    </a:ext>
                  </a:extLst>
                </a:gridCol>
                <a:gridCol w="1144769">
                  <a:extLst>
                    <a:ext uri="{9D8B030D-6E8A-4147-A177-3AD203B41FA5}">
                      <a16:colId xmlns:a16="http://schemas.microsoft.com/office/drawing/2014/main" val="3245403463"/>
                    </a:ext>
                  </a:extLst>
                </a:gridCol>
                <a:gridCol w="1018680">
                  <a:extLst>
                    <a:ext uri="{9D8B030D-6E8A-4147-A177-3AD203B41FA5}">
                      <a16:colId xmlns:a16="http://schemas.microsoft.com/office/drawing/2014/main" val="2887386257"/>
                    </a:ext>
                  </a:extLst>
                </a:gridCol>
              </a:tblGrid>
              <a:tr h="339531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3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2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 1   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289176"/>
                  </a:ext>
                </a:extLst>
              </a:tr>
              <a:tr h="388134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6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ar-EG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dirty="0"/>
                        <a:t>                         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925727"/>
                  </a:ext>
                </a:extLst>
              </a:tr>
              <a:tr h="339531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8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5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7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99779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4600680-21C4-6ACD-2B0D-C95E72A89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77503"/>
              </p:ext>
            </p:extLst>
          </p:nvPr>
        </p:nvGraphicFramePr>
        <p:xfrm>
          <a:off x="6605079" y="3421543"/>
          <a:ext cx="3214452" cy="1112520"/>
        </p:xfrm>
        <a:graphic>
          <a:graphicData uri="http://schemas.openxmlformats.org/drawingml/2006/table">
            <a:tbl>
              <a:tblPr rtl="1" bandRow="1">
                <a:tableStyleId>{5C22544A-7EE6-4342-B048-85BDC9FD1C3A}</a:tableStyleId>
              </a:tblPr>
              <a:tblGrid>
                <a:gridCol w="1071484">
                  <a:extLst>
                    <a:ext uri="{9D8B030D-6E8A-4147-A177-3AD203B41FA5}">
                      <a16:colId xmlns:a16="http://schemas.microsoft.com/office/drawing/2014/main" val="268182389"/>
                    </a:ext>
                  </a:extLst>
                </a:gridCol>
                <a:gridCol w="1071484">
                  <a:extLst>
                    <a:ext uri="{9D8B030D-6E8A-4147-A177-3AD203B41FA5}">
                      <a16:colId xmlns:a16="http://schemas.microsoft.com/office/drawing/2014/main" val="3878355939"/>
                    </a:ext>
                  </a:extLst>
                </a:gridCol>
                <a:gridCol w="1071484">
                  <a:extLst>
                    <a:ext uri="{9D8B030D-6E8A-4147-A177-3AD203B41FA5}">
                      <a16:colId xmlns:a16="http://schemas.microsoft.com/office/drawing/2014/main" val="750173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3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2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9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6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5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4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452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1"/>
                      <a:r>
                        <a:rPr lang="ar-EG" dirty="0"/>
                        <a:t>               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8</a:t>
                      </a:r>
                      <a:r>
                        <a:rPr lang="ar-EG" dirty="0"/>
                        <a:t>                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7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524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7138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66A62-67A8-F04C-B0D4-924579DC3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 </a:t>
            </a:r>
            <a:endParaRPr lang="ar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F6E3E-2D2F-B377-FB5D-BAAB8A752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ar-EG" sz="3200" dirty="0">
                <a:solidFill>
                  <a:schemeClr val="accent1"/>
                </a:solidFill>
              </a:rPr>
              <a:t>                                                </a:t>
            </a:r>
            <a:r>
              <a:rPr lang="en-US" sz="3200" dirty="0">
                <a:solidFill>
                  <a:schemeClr val="accent1"/>
                </a:solidFill>
              </a:rPr>
              <a:t>States : </a:t>
            </a:r>
            <a:r>
              <a:rPr lang="en-US" sz="3200" dirty="0"/>
              <a:t>location of tiles </a:t>
            </a:r>
            <a:r>
              <a:rPr lang="en-US" sz="3200" dirty="0">
                <a:solidFill>
                  <a:schemeClr val="accent1"/>
                </a:solidFill>
              </a:rPr>
              <a:t>. </a:t>
            </a:r>
          </a:p>
          <a:p>
            <a:pPr marL="0" indent="0" algn="l">
              <a:buNone/>
            </a:pPr>
            <a:endParaRPr lang="en-US" sz="3200" dirty="0">
              <a:solidFill>
                <a:schemeClr val="accent1"/>
              </a:solidFill>
            </a:endParaRPr>
          </a:p>
          <a:p>
            <a:pPr marL="0" indent="0" algn="l">
              <a:buNone/>
            </a:pPr>
            <a:r>
              <a:rPr lang="en-US" sz="3200" dirty="0">
                <a:solidFill>
                  <a:schemeClr val="accent1"/>
                </a:solidFill>
              </a:rPr>
              <a:t>Successor function : </a:t>
            </a:r>
            <a:r>
              <a:rPr lang="en-US" sz="3200" dirty="0"/>
              <a:t>move blank left , right , up , down </a:t>
            </a:r>
            <a:r>
              <a:rPr lang="en-US" sz="3200" dirty="0">
                <a:solidFill>
                  <a:srgbClr val="00B0F0"/>
                </a:solidFill>
              </a:rPr>
              <a:t>.</a:t>
            </a:r>
          </a:p>
          <a:p>
            <a:pPr marL="0" indent="0" algn="l">
              <a:buNone/>
            </a:pPr>
            <a:r>
              <a:rPr lang="en-US" sz="3200" dirty="0"/>
              <a:t> </a:t>
            </a:r>
            <a:endParaRPr lang="en-US" sz="3200" dirty="0">
              <a:solidFill>
                <a:schemeClr val="accent1"/>
              </a:solidFill>
            </a:endParaRPr>
          </a:p>
          <a:p>
            <a:pPr marL="0" indent="0" algn="l">
              <a:buNone/>
            </a:pPr>
            <a:r>
              <a:rPr lang="en-US" sz="3200" dirty="0">
                <a:solidFill>
                  <a:schemeClr val="accent1"/>
                </a:solidFill>
              </a:rPr>
              <a:t>Path Cost : </a:t>
            </a:r>
            <a:r>
              <a:rPr lang="en-US" sz="3200" dirty="0"/>
              <a:t>1 per move 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  <a:endParaRPr lang="ar-EG" sz="3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1591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21BFB-65ED-7185-7DF6-26B16821A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 </a:t>
            </a:r>
            <a:endParaRPr lang="ar-E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1CAD4F7-136A-534F-BAD8-23CA240672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2655387"/>
              </p:ext>
            </p:extLst>
          </p:nvPr>
        </p:nvGraphicFramePr>
        <p:xfrm>
          <a:off x="4404655" y="2084832"/>
          <a:ext cx="3382689" cy="1112520"/>
        </p:xfrm>
        <a:graphic>
          <a:graphicData uri="http://schemas.openxmlformats.org/drawingml/2006/table">
            <a:tbl>
              <a:tblPr rtl="1" bandRow="1">
                <a:tableStyleId>{5C22544A-7EE6-4342-B048-85BDC9FD1C3A}</a:tableStyleId>
              </a:tblPr>
              <a:tblGrid>
                <a:gridCol w="1127563">
                  <a:extLst>
                    <a:ext uri="{9D8B030D-6E8A-4147-A177-3AD203B41FA5}">
                      <a16:colId xmlns:a16="http://schemas.microsoft.com/office/drawing/2014/main" val="1949085572"/>
                    </a:ext>
                  </a:extLst>
                </a:gridCol>
                <a:gridCol w="1127563">
                  <a:extLst>
                    <a:ext uri="{9D8B030D-6E8A-4147-A177-3AD203B41FA5}">
                      <a16:colId xmlns:a16="http://schemas.microsoft.com/office/drawing/2014/main" val="2583394311"/>
                    </a:ext>
                  </a:extLst>
                </a:gridCol>
                <a:gridCol w="1127563">
                  <a:extLst>
                    <a:ext uri="{9D8B030D-6E8A-4147-A177-3AD203B41FA5}">
                      <a16:colId xmlns:a16="http://schemas.microsoft.com/office/drawing/2014/main" val="4018461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3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2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633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6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4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ar-E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363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8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5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7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283676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56652BF-72F9-0B79-108A-9BBFA5CF2C64}"/>
                  </a:ext>
                </a:extLst>
              </p14:cNvPr>
              <p14:cNvContentPartPr/>
              <p14:nvPr/>
            </p14:nvContentPartPr>
            <p14:xfrm>
              <a:off x="4339709" y="3287397"/>
              <a:ext cx="1446871" cy="1118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56652BF-72F9-0B79-108A-9BBFA5CF2C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33589" y="3281277"/>
                <a:ext cx="1459111" cy="11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9ED2421-748A-35B1-09A2-8E41B083C3FE}"/>
                  </a:ext>
                </a:extLst>
              </p14:cNvPr>
              <p14:cNvContentPartPr/>
              <p14:nvPr/>
            </p14:nvContentPartPr>
            <p14:xfrm>
              <a:off x="4289170" y="4299365"/>
              <a:ext cx="720" cy="1368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9ED2421-748A-35B1-09A2-8E41B083C3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76930" y="4292885"/>
                <a:ext cx="2520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BCFDD89-606A-C4B3-A9DC-8128E94308DD}"/>
                  </a:ext>
                </a:extLst>
              </p14:cNvPr>
              <p14:cNvContentPartPr/>
              <p14:nvPr/>
            </p14:nvContentPartPr>
            <p14:xfrm>
              <a:off x="4289170" y="4425365"/>
              <a:ext cx="203760" cy="104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BCFDD89-606A-C4B3-A9DC-8128E94308D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83050" y="4419245"/>
                <a:ext cx="21600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8FAE5EB-304B-DCDC-55C8-ED9D13743D49}"/>
                  </a:ext>
                </a:extLst>
              </p14:cNvPr>
              <p14:cNvContentPartPr/>
              <p14:nvPr/>
            </p14:nvContentPartPr>
            <p14:xfrm>
              <a:off x="5913850" y="3287405"/>
              <a:ext cx="39600" cy="12355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8FAE5EB-304B-DCDC-55C8-ED9D13743D4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07370" y="3281285"/>
                <a:ext cx="51840" cy="124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4C0B2BBB-DF7A-DA1A-EE86-54FCFC655B09}"/>
              </a:ext>
            </a:extLst>
          </p:cNvPr>
          <p:cNvGrpSpPr/>
          <p:nvPr/>
        </p:nvGrpSpPr>
        <p:grpSpPr>
          <a:xfrm>
            <a:off x="5855530" y="4384685"/>
            <a:ext cx="221760" cy="158040"/>
            <a:chOff x="5855530" y="4384685"/>
            <a:chExt cx="221760" cy="15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0505A89-1740-1D2F-CCF5-0C9AA0D86054}"/>
                    </a:ext>
                  </a:extLst>
                </p14:cNvPr>
                <p14:cNvContentPartPr/>
                <p14:nvPr/>
              </p14:nvContentPartPr>
              <p14:xfrm>
                <a:off x="5855530" y="4425725"/>
                <a:ext cx="105480" cy="111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0505A89-1740-1D2F-CCF5-0C9AA0D8605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49410" y="4419605"/>
                  <a:ext cx="1177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70EA3F1-A7A9-6E91-7696-CD5AFE2CBEAD}"/>
                    </a:ext>
                  </a:extLst>
                </p14:cNvPr>
                <p14:cNvContentPartPr/>
                <p14:nvPr/>
              </p14:nvContentPartPr>
              <p14:xfrm>
                <a:off x="5962810" y="4384685"/>
                <a:ext cx="114480" cy="158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70EA3F1-A7A9-6E91-7696-CD5AFE2CBEA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56690" y="4378565"/>
                  <a:ext cx="126720" cy="17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CFF9BB7-1864-62EE-04C2-272BD0E9114E}"/>
                  </a:ext>
                </a:extLst>
              </p14:cNvPr>
              <p14:cNvContentPartPr/>
              <p14:nvPr/>
            </p14:nvContentPartPr>
            <p14:xfrm>
              <a:off x="6196090" y="3394325"/>
              <a:ext cx="1459800" cy="8370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CFF9BB7-1864-62EE-04C2-272BD0E9114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89610" y="3388205"/>
                <a:ext cx="1472040" cy="84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7BFA7406-6324-D950-995A-C3041CED0D07}"/>
              </a:ext>
            </a:extLst>
          </p:cNvPr>
          <p:cNvGrpSpPr/>
          <p:nvPr/>
        </p:nvGrpSpPr>
        <p:grpSpPr>
          <a:xfrm>
            <a:off x="7519090" y="4066085"/>
            <a:ext cx="161640" cy="245520"/>
            <a:chOff x="7519090" y="4066085"/>
            <a:chExt cx="161640" cy="24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00D9CE7-4FB5-A2A0-96D9-347256521A7F}"/>
                    </a:ext>
                  </a:extLst>
                </p14:cNvPr>
                <p14:cNvContentPartPr/>
                <p14:nvPr/>
              </p14:nvContentPartPr>
              <p14:xfrm>
                <a:off x="7519090" y="4075805"/>
                <a:ext cx="360" cy="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00D9CE7-4FB5-A2A0-96D9-347256521A7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512970" y="406968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1D13EE0-1E5C-7C83-D828-4FD887669F62}"/>
                    </a:ext>
                  </a:extLst>
                </p14:cNvPr>
                <p14:cNvContentPartPr/>
                <p14:nvPr/>
              </p14:nvContentPartPr>
              <p14:xfrm>
                <a:off x="7538530" y="4182725"/>
                <a:ext cx="360" cy="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1D13EE0-1E5C-7C83-D828-4FD887669F6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532410" y="417660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197CEF8-734E-BBD1-3075-11CE55CFBAA7}"/>
                    </a:ext>
                  </a:extLst>
                </p14:cNvPr>
                <p14:cNvContentPartPr/>
                <p14:nvPr/>
              </p14:nvContentPartPr>
              <p14:xfrm>
                <a:off x="7616290" y="4066085"/>
                <a:ext cx="64440" cy="245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197CEF8-734E-BBD1-3075-11CE55CFBAA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610170" y="4059965"/>
                  <a:ext cx="76680" cy="25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6BFB136-CAAA-A26B-DDFC-E461CCD26A47}"/>
                  </a:ext>
                </a:extLst>
              </p14:cNvPr>
              <p14:cNvContentPartPr/>
              <p14:nvPr/>
            </p14:nvContentPartPr>
            <p14:xfrm>
              <a:off x="7471570" y="4250405"/>
              <a:ext cx="213480" cy="104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6BFB136-CAAA-A26B-DDFC-E461CCD26A4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465450" y="4244285"/>
                <a:ext cx="225720" cy="2268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BF64BECA-6CB8-87CD-97B2-55BBFBE611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306360"/>
              </p:ext>
            </p:extLst>
          </p:nvPr>
        </p:nvGraphicFramePr>
        <p:xfrm>
          <a:off x="1909507" y="4580338"/>
          <a:ext cx="2379663" cy="1097280"/>
        </p:xfrm>
        <a:graphic>
          <a:graphicData uri="http://schemas.openxmlformats.org/drawingml/2006/table">
            <a:tbl>
              <a:tblPr rtl="1" bandRow="1">
                <a:tableStyleId>{5C22544A-7EE6-4342-B048-85BDC9FD1C3A}</a:tableStyleId>
              </a:tblPr>
              <a:tblGrid>
                <a:gridCol w="793221">
                  <a:extLst>
                    <a:ext uri="{9D8B030D-6E8A-4147-A177-3AD203B41FA5}">
                      <a16:colId xmlns:a16="http://schemas.microsoft.com/office/drawing/2014/main" val="3153409066"/>
                    </a:ext>
                  </a:extLst>
                </a:gridCol>
                <a:gridCol w="793221">
                  <a:extLst>
                    <a:ext uri="{9D8B030D-6E8A-4147-A177-3AD203B41FA5}">
                      <a16:colId xmlns:a16="http://schemas.microsoft.com/office/drawing/2014/main" val="63688955"/>
                    </a:ext>
                  </a:extLst>
                </a:gridCol>
                <a:gridCol w="793221">
                  <a:extLst>
                    <a:ext uri="{9D8B030D-6E8A-4147-A177-3AD203B41FA5}">
                      <a16:colId xmlns:a16="http://schemas.microsoft.com/office/drawing/2014/main" val="38197068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3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2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ar-E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127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6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4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3220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8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5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7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158852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75E0C20C-1D7E-28A5-717D-71DB0AF2E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361399"/>
              </p:ext>
            </p:extLst>
          </p:nvPr>
        </p:nvGraphicFramePr>
        <p:xfrm>
          <a:off x="4771178" y="4612978"/>
          <a:ext cx="2379663" cy="1097280"/>
        </p:xfrm>
        <a:graphic>
          <a:graphicData uri="http://schemas.openxmlformats.org/drawingml/2006/table">
            <a:tbl>
              <a:tblPr rtl="1" bandRow="1">
                <a:tableStyleId>{5C22544A-7EE6-4342-B048-85BDC9FD1C3A}</a:tableStyleId>
              </a:tblPr>
              <a:tblGrid>
                <a:gridCol w="793221">
                  <a:extLst>
                    <a:ext uri="{9D8B030D-6E8A-4147-A177-3AD203B41FA5}">
                      <a16:colId xmlns:a16="http://schemas.microsoft.com/office/drawing/2014/main" val="1007640139"/>
                    </a:ext>
                  </a:extLst>
                </a:gridCol>
                <a:gridCol w="793221">
                  <a:extLst>
                    <a:ext uri="{9D8B030D-6E8A-4147-A177-3AD203B41FA5}">
                      <a16:colId xmlns:a16="http://schemas.microsoft.com/office/drawing/2014/main" val="1574094071"/>
                    </a:ext>
                  </a:extLst>
                </a:gridCol>
                <a:gridCol w="793221">
                  <a:extLst>
                    <a:ext uri="{9D8B030D-6E8A-4147-A177-3AD203B41FA5}">
                      <a16:colId xmlns:a16="http://schemas.microsoft.com/office/drawing/2014/main" val="452494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3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2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409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6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ar-E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4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830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8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5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7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79653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ECBF04EC-51ED-D2A2-CA62-166BEB045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815039"/>
              </p:ext>
            </p:extLst>
          </p:nvPr>
        </p:nvGraphicFramePr>
        <p:xfrm>
          <a:off x="7538530" y="4551365"/>
          <a:ext cx="2379663" cy="1097280"/>
        </p:xfrm>
        <a:graphic>
          <a:graphicData uri="http://schemas.openxmlformats.org/drawingml/2006/table">
            <a:tbl>
              <a:tblPr rtl="1" bandRow="1">
                <a:tableStyleId>{5C22544A-7EE6-4342-B048-85BDC9FD1C3A}</a:tableStyleId>
              </a:tblPr>
              <a:tblGrid>
                <a:gridCol w="793221">
                  <a:extLst>
                    <a:ext uri="{9D8B030D-6E8A-4147-A177-3AD203B41FA5}">
                      <a16:colId xmlns:a16="http://schemas.microsoft.com/office/drawing/2014/main" val="1007640139"/>
                    </a:ext>
                  </a:extLst>
                </a:gridCol>
                <a:gridCol w="793221">
                  <a:extLst>
                    <a:ext uri="{9D8B030D-6E8A-4147-A177-3AD203B41FA5}">
                      <a16:colId xmlns:a16="http://schemas.microsoft.com/office/drawing/2014/main" val="1574094071"/>
                    </a:ext>
                  </a:extLst>
                </a:gridCol>
                <a:gridCol w="793221">
                  <a:extLst>
                    <a:ext uri="{9D8B030D-6E8A-4147-A177-3AD203B41FA5}">
                      <a16:colId xmlns:a16="http://schemas.microsoft.com/office/drawing/2014/main" val="452494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3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2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409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6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4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7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830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8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5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ar-E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79653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3459D175-9F73-4BC4-7582-2B62E89AF57A}"/>
              </a:ext>
            </a:extLst>
          </p:cNvPr>
          <p:cNvSpPr txBox="1"/>
          <p:nvPr/>
        </p:nvSpPr>
        <p:spPr>
          <a:xfrm>
            <a:off x="680936" y="1957368"/>
            <a:ext cx="338268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F(n) = g(n) + h(n)</a:t>
            </a:r>
            <a:endParaRPr lang="ar-EG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089CC0-27F0-6C9C-02C0-3096268B9D7F}"/>
              </a:ext>
            </a:extLst>
          </p:cNvPr>
          <p:cNvSpPr txBox="1"/>
          <p:nvPr/>
        </p:nvSpPr>
        <p:spPr>
          <a:xfrm>
            <a:off x="1024128" y="2701100"/>
            <a:ext cx="302530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F(n) = 0+3 = 3</a:t>
            </a:r>
            <a:endParaRPr lang="ar-EG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5573DC-3A1F-2329-3E12-6C99D7517DDE}"/>
              </a:ext>
            </a:extLst>
          </p:cNvPr>
          <p:cNvSpPr txBox="1"/>
          <p:nvPr/>
        </p:nvSpPr>
        <p:spPr>
          <a:xfrm>
            <a:off x="2107287" y="5821791"/>
            <a:ext cx="190662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F(n) = 1+4 = 5</a:t>
            </a:r>
            <a:endParaRPr lang="ar-EG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2FFA80-9431-B130-C405-D3AEE072AF8A}"/>
              </a:ext>
            </a:extLst>
          </p:cNvPr>
          <p:cNvSpPr txBox="1"/>
          <p:nvPr/>
        </p:nvSpPr>
        <p:spPr>
          <a:xfrm>
            <a:off x="5041294" y="5821791"/>
            <a:ext cx="207199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F(n)= 1+2=3</a:t>
            </a:r>
            <a:endParaRPr lang="ar-EG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F67C02-B35D-7E7E-9133-5D7AB2D726D9}"/>
              </a:ext>
            </a:extLst>
          </p:cNvPr>
          <p:cNvSpPr txBox="1"/>
          <p:nvPr/>
        </p:nvSpPr>
        <p:spPr>
          <a:xfrm>
            <a:off x="7894390" y="5821791"/>
            <a:ext cx="166794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F(n)= 1+4 = 5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4628958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42" grpId="0"/>
      <p:bldP spid="4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E31E9-6915-26EC-D81A-56F457715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 </a:t>
            </a:r>
            <a:endParaRPr lang="ar-E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5C5A03-07D1-5682-628C-6155E27382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7883015"/>
              </p:ext>
            </p:extLst>
          </p:nvPr>
        </p:nvGraphicFramePr>
        <p:xfrm>
          <a:off x="4629295" y="1789889"/>
          <a:ext cx="2509737" cy="1112520"/>
        </p:xfrm>
        <a:graphic>
          <a:graphicData uri="http://schemas.openxmlformats.org/drawingml/2006/table">
            <a:tbl>
              <a:tblPr rtl="1" bandRow="1">
                <a:tableStyleId>{5C22544A-7EE6-4342-B048-85BDC9FD1C3A}</a:tableStyleId>
              </a:tblPr>
              <a:tblGrid>
                <a:gridCol w="836579">
                  <a:extLst>
                    <a:ext uri="{9D8B030D-6E8A-4147-A177-3AD203B41FA5}">
                      <a16:colId xmlns:a16="http://schemas.microsoft.com/office/drawing/2014/main" val="4235981660"/>
                    </a:ext>
                  </a:extLst>
                </a:gridCol>
                <a:gridCol w="836579">
                  <a:extLst>
                    <a:ext uri="{9D8B030D-6E8A-4147-A177-3AD203B41FA5}">
                      <a16:colId xmlns:a16="http://schemas.microsoft.com/office/drawing/2014/main" val="1490513448"/>
                    </a:ext>
                  </a:extLst>
                </a:gridCol>
                <a:gridCol w="836579">
                  <a:extLst>
                    <a:ext uri="{9D8B030D-6E8A-4147-A177-3AD203B41FA5}">
                      <a16:colId xmlns:a16="http://schemas.microsoft.com/office/drawing/2014/main" val="8180309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2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441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6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ar-E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4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911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8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5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7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19469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AC9415-1663-97AE-3CB0-A188FA8D71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302276"/>
              </p:ext>
            </p:extLst>
          </p:nvPr>
        </p:nvGraphicFramePr>
        <p:xfrm>
          <a:off x="8234463" y="4027070"/>
          <a:ext cx="2509737" cy="1107440"/>
        </p:xfrm>
        <a:graphic>
          <a:graphicData uri="http://schemas.openxmlformats.org/drawingml/2006/table">
            <a:tbl>
              <a:tblPr rtl="1" bandRow="1">
                <a:tableStyleId>{5C22544A-7EE6-4342-B048-85BDC9FD1C3A}</a:tableStyleId>
              </a:tblPr>
              <a:tblGrid>
                <a:gridCol w="836579">
                  <a:extLst>
                    <a:ext uri="{9D8B030D-6E8A-4147-A177-3AD203B41FA5}">
                      <a16:colId xmlns:a16="http://schemas.microsoft.com/office/drawing/2014/main" val="1790538024"/>
                    </a:ext>
                  </a:extLst>
                </a:gridCol>
                <a:gridCol w="836579">
                  <a:extLst>
                    <a:ext uri="{9D8B030D-6E8A-4147-A177-3AD203B41FA5}">
                      <a16:colId xmlns:a16="http://schemas.microsoft.com/office/drawing/2014/main" val="3471414554"/>
                    </a:ext>
                  </a:extLst>
                </a:gridCol>
                <a:gridCol w="836579">
                  <a:extLst>
                    <a:ext uri="{9D8B030D-6E8A-4147-A177-3AD203B41FA5}">
                      <a16:colId xmlns:a16="http://schemas.microsoft.com/office/drawing/2014/main" val="5729697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3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2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848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endParaRPr lang="ar-E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6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4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456125"/>
                  </a:ext>
                </a:extLst>
              </a:tr>
              <a:tr h="357727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8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5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7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2890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93C5A68-4959-9A88-D485-64CC851DA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38226"/>
              </p:ext>
            </p:extLst>
          </p:nvPr>
        </p:nvGraphicFramePr>
        <p:xfrm>
          <a:off x="4841131" y="4027070"/>
          <a:ext cx="2509737" cy="1112520"/>
        </p:xfrm>
        <a:graphic>
          <a:graphicData uri="http://schemas.openxmlformats.org/drawingml/2006/table">
            <a:tbl>
              <a:tblPr rtl="1" bandRow="1">
                <a:tableStyleId>{5C22544A-7EE6-4342-B048-85BDC9FD1C3A}</a:tableStyleId>
              </a:tblPr>
              <a:tblGrid>
                <a:gridCol w="836579">
                  <a:extLst>
                    <a:ext uri="{9D8B030D-6E8A-4147-A177-3AD203B41FA5}">
                      <a16:colId xmlns:a16="http://schemas.microsoft.com/office/drawing/2014/main" val="1790538024"/>
                    </a:ext>
                  </a:extLst>
                </a:gridCol>
                <a:gridCol w="836579">
                  <a:extLst>
                    <a:ext uri="{9D8B030D-6E8A-4147-A177-3AD203B41FA5}">
                      <a16:colId xmlns:a16="http://schemas.microsoft.com/office/drawing/2014/main" val="3471414554"/>
                    </a:ext>
                  </a:extLst>
                </a:gridCol>
                <a:gridCol w="836579">
                  <a:extLst>
                    <a:ext uri="{9D8B030D-6E8A-4147-A177-3AD203B41FA5}">
                      <a16:colId xmlns:a16="http://schemas.microsoft.com/office/drawing/2014/main" val="5729697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3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2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848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6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5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4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456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8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ar-E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7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2890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28E8F71-19BB-75DB-6E3F-0EF05CE46825}"/>
                  </a:ext>
                </a:extLst>
              </p14:cNvPr>
              <p14:cNvContentPartPr/>
              <p14:nvPr/>
            </p14:nvContentPartPr>
            <p14:xfrm>
              <a:off x="3142034" y="3005165"/>
              <a:ext cx="1711616" cy="819442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28E8F71-19BB-75DB-6E3F-0EF05CE468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35915" y="2999044"/>
                <a:ext cx="1723855" cy="8316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694933E-5992-45F8-A1ED-C542AD097766}"/>
                  </a:ext>
                </a:extLst>
              </p14:cNvPr>
              <p14:cNvContentPartPr/>
              <p14:nvPr/>
            </p14:nvContentPartPr>
            <p14:xfrm>
              <a:off x="6526930" y="3034685"/>
              <a:ext cx="2364120" cy="5842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694933E-5992-45F8-A1ED-C542AD0977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20810" y="3028565"/>
                <a:ext cx="2376360" cy="59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DA57EB2-C267-1965-396A-FCEE2E1DBF3F}"/>
                  </a:ext>
                </a:extLst>
              </p14:cNvPr>
              <p14:cNvContentPartPr/>
              <p14:nvPr/>
            </p14:nvContentPartPr>
            <p14:xfrm>
              <a:off x="6079450" y="3637685"/>
              <a:ext cx="360" cy="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DA57EB2-C267-1965-396A-FCEE2E1DBF3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73330" y="363156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C45BAAC-06A2-8B43-A192-0725058550D9}"/>
                  </a:ext>
                </a:extLst>
              </p14:cNvPr>
              <p14:cNvContentPartPr/>
              <p14:nvPr/>
            </p14:nvContentPartPr>
            <p14:xfrm>
              <a:off x="5661130" y="2986085"/>
              <a:ext cx="188280" cy="9428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C45BAAC-06A2-8B43-A192-0725058550D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55010" y="2979965"/>
                <a:ext cx="200520" cy="95508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29A3CA0-734F-2A2D-6CAF-212595F58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757023"/>
              </p:ext>
            </p:extLst>
          </p:nvPr>
        </p:nvGraphicFramePr>
        <p:xfrm>
          <a:off x="1447799" y="4027070"/>
          <a:ext cx="2509737" cy="1112520"/>
        </p:xfrm>
        <a:graphic>
          <a:graphicData uri="http://schemas.openxmlformats.org/drawingml/2006/table">
            <a:tbl>
              <a:tblPr rtl="1" bandRow="1">
                <a:tableStyleId>{5C22544A-7EE6-4342-B048-85BDC9FD1C3A}</a:tableStyleId>
              </a:tblPr>
              <a:tblGrid>
                <a:gridCol w="836579">
                  <a:extLst>
                    <a:ext uri="{9D8B030D-6E8A-4147-A177-3AD203B41FA5}">
                      <a16:colId xmlns:a16="http://schemas.microsoft.com/office/drawing/2014/main" val="4276438528"/>
                    </a:ext>
                  </a:extLst>
                </a:gridCol>
                <a:gridCol w="836579">
                  <a:extLst>
                    <a:ext uri="{9D8B030D-6E8A-4147-A177-3AD203B41FA5}">
                      <a16:colId xmlns:a16="http://schemas.microsoft.com/office/drawing/2014/main" val="1813675915"/>
                    </a:ext>
                  </a:extLst>
                </a:gridCol>
                <a:gridCol w="836579">
                  <a:extLst>
                    <a:ext uri="{9D8B030D-6E8A-4147-A177-3AD203B41FA5}">
                      <a16:colId xmlns:a16="http://schemas.microsoft.com/office/drawing/2014/main" val="2896799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3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ar-E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565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6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2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4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472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8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5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7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527907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DC772E2E-D1BE-D267-1022-7FFDA18B52D4}"/>
              </a:ext>
            </a:extLst>
          </p:cNvPr>
          <p:cNvSpPr txBox="1"/>
          <p:nvPr/>
        </p:nvSpPr>
        <p:spPr>
          <a:xfrm>
            <a:off x="865761" y="5553614"/>
            <a:ext cx="282102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F(n) = 2+3=5</a:t>
            </a:r>
            <a:endParaRPr lang="ar-EG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D523B2-2D83-3406-2624-D0A629869FC6}"/>
              </a:ext>
            </a:extLst>
          </p:cNvPr>
          <p:cNvSpPr txBox="1"/>
          <p:nvPr/>
        </p:nvSpPr>
        <p:spPr>
          <a:xfrm>
            <a:off x="4853650" y="5525311"/>
            <a:ext cx="250973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F(n) = 2+1=3</a:t>
            </a:r>
            <a:endParaRPr lang="ar-EG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260E3B-3404-5084-DEC2-8C5EF1FC3EFB}"/>
              </a:ext>
            </a:extLst>
          </p:cNvPr>
          <p:cNvSpPr txBox="1"/>
          <p:nvPr/>
        </p:nvSpPr>
        <p:spPr>
          <a:xfrm>
            <a:off x="8317149" y="5553614"/>
            <a:ext cx="250973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F(n) = 2+3=5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53248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uild="allAtOnce"/>
      <p:bldP spid="29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F2C66-7C9D-27BC-B663-553E56C67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664" y="526118"/>
            <a:ext cx="9720072" cy="1499616"/>
          </a:xfrm>
        </p:spPr>
        <p:txBody>
          <a:bodyPr/>
          <a:lstStyle/>
          <a:p>
            <a:r>
              <a:rPr lang="en-US" dirty="0"/>
              <a:t>PROBLEM FORMULATION </a:t>
            </a:r>
            <a:endParaRPr lang="ar-E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99A116-9925-32EC-BE70-5E98062AA5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9523534"/>
              </p:ext>
            </p:extLst>
          </p:nvPr>
        </p:nvGraphicFramePr>
        <p:xfrm>
          <a:off x="4576863" y="2003898"/>
          <a:ext cx="2840478" cy="1112520"/>
        </p:xfrm>
        <a:graphic>
          <a:graphicData uri="http://schemas.openxmlformats.org/drawingml/2006/table">
            <a:tbl>
              <a:tblPr rtl="1" bandRow="1">
                <a:tableStyleId>{5C22544A-7EE6-4342-B048-85BDC9FD1C3A}</a:tableStyleId>
              </a:tblPr>
              <a:tblGrid>
                <a:gridCol w="946826">
                  <a:extLst>
                    <a:ext uri="{9D8B030D-6E8A-4147-A177-3AD203B41FA5}">
                      <a16:colId xmlns:a16="http://schemas.microsoft.com/office/drawing/2014/main" val="1298283368"/>
                    </a:ext>
                  </a:extLst>
                </a:gridCol>
                <a:gridCol w="946826">
                  <a:extLst>
                    <a:ext uri="{9D8B030D-6E8A-4147-A177-3AD203B41FA5}">
                      <a16:colId xmlns:a16="http://schemas.microsoft.com/office/drawing/2014/main" val="1781520998"/>
                    </a:ext>
                  </a:extLst>
                </a:gridCol>
                <a:gridCol w="946826">
                  <a:extLst>
                    <a:ext uri="{9D8B030D-6E8A-4147-A177-3AD203B41FA5}">
                      <a16:colId xmlns:a16="http://schemas.microsoft.com/office/drawing/2014/main" val="5961241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3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2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094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6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5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4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262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8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ar-E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7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03919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B4E57E-501E-1BB5-2B9B-FD42E18CE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189956"/>
              </p:ext>
            </p:extLst>
          </p:nvPr>
        </p:nvGraphicFramePr>
        <p:xfrm>
          <a:off x="2033081" y="4276007"/>
          <a:ext cx="2840478" cy="1112520"/>
        </p:xfrm>
        <a:graphic>
          <a:graphicData uri="http://schemas.openxmlformats.org/drawingml/2006/table">
            <a:tbl>
              <a:tblPr rtl="1" bandRow="1">
                <a:tableStyleId>{5C22544A-7EE6-4342-B048-85BDC9FD1C3A}</a:tableStyleId>
              </a:tblPr>
              <a:tblGrid>
                <a:gridCol w="946826">
                  <a:extLst>
                    <a:ext uri="{9D8B030D-6E8A-4147-A177-3AD203B41FA5}">
                      <a16:colId xmlns:a16="http://schemas.microsoft.com/office/drawing/2014/main" val="3374708549"/>
                    </a:ext>
                  </a:extLst>
                </a:gridCol>
                <a:gridCol w="946826">
                  <a:extLst>
                    <a:ext uri="{9D8B030D-6E8A-4147-A177-3AD203B41FA5}">
                      <a16:colId xmlns:a16="http://schemas.microsoft.com/office/drawing/2014/main" val="3487946881"/>
                    </a:ext>
                  </a:extLst>
                </a:gridCol>
                <a:gridCol w="946826">
                  <a:extLst>
                    <a:ext uri="{9D8B030D-6E8A-4147-A177-3AD203B41FA5}">
                      <a16:colId xmlns:a16="http://schemas.microsoft.com/office/drawing/2014/main" val="21766922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3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2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580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6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5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4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847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8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7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ar-E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44417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A890B5-1187-D1BF-D6B8-8C1951FEF2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076922"/>
              </p:ext>
            </p:extLst>
          </p:nvPr>
        </p:nvGraphicFramePr>
        <p:xfrm>
          <a:off x="7757267" y="4276007"/>
          <a:ext cx="2840478" cy="1112520"/>
        </p:xfrm>
        <a:graphic>
          <a:graphicData uri="http://schemas.openxmlformats.org/drawingml/2006/table">
            <a:tbl>
              <a:tblPr rtl="1" bandRow="1">
                <a:tableStyleId>{5C22544A-7EE6-4342-B048-85BDC9FD1C3A}</a:tableStyleId>
              </a:tblPr>
              <a:tblGrid>
                <a:gridCol w="946826">
                  <a:extLst>
                    <a:ext uri="{9D8B030D-6E8A-4147-A177-3AD203B41FA5}">
                      <a16:colId xmlns:a16="http://schemas.microsoft.com/office/drawing/2014/main" val="1544829839"/>
                    </a:ext>
                  </a:extLst>
                </a:gridCol>
                <a:gridCol w="946826">
                  <a:extLst>
                    <a:ext uri="{9D8B030D-6E8A-4147-A177-3AD203B41FA5}">
                      <a16:colId xmlns:a16="http://schemas.microsoft.com/office/drawing/2014/main" val="3064483329"/>
                    </a:ext>
                  </a:extLst>
                </a:gridCol>
                <a:gridCol w="946826">
                  <a:extLst>
                    <a:ext uri="{9D8B030D-6E8A-4147-A177-3AD203B41FA5}">
                      <a16:colId xmlns:a16="http://schemas.microsoft.com/office/drawing/2014/main" val="603504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3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2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029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6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5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4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553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endParaRPr lang="ar-E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8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7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47156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2F5AD90-BFC9-3630-5CB7-0DD938B3A223}"/>
                  </a:ext>
                </a:extLst>
              </p14:cNvPr>
              <p14:cNvContentPartPr/>
              <p14:nvPr/>
            </p14:nvContentPartPr>
            <p14:xfrm>
              <a:off x="3375130" y="3248885"/>
              <a:ext cx="1672920" cy="807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2F5AD90-BFC9-3630-5CB7-0DD938B3A2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69010" y="3242765"/>
                <a:ext cx="1685160" cy="81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33EAA0A-164C-3A50-CC88-8080C72091BE}"/>
                  </a:ext>
                </a:extLst>
              </p14:cNvPr>
              <p14:cNvContentPartPr/>
              <p14:nvPr/>
            </p14:nvContentPartPr>
            <p14:xfrm>
              <a:off x="7188250" y="3258245"/>
              <a:ext cx="1731960" cy="895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33EAA0A-164C-3A50-CC88-8080C72091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81770" y="3252125"/>
                <a:ext cx="1744200" cy="90756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A34ACB1-118D-1983-BEC6-DDBFDA2897DB}"/>
              </a:ext>
            </a:extLst>
          </p:cNvPr>
          <p:cNvSpPr txBox="1"/>
          <p:nvPr/>
        </p:nvSpPr>
        <p:spPr>
          <a:xfrm>
            <a:off x="1857983" y="5612860"/>
            <a:ext cx="252919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F(n) = 3+2 =5</a:t>
            </a:r>
            <a:endParaRPr lang="ar-E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991011-DCDC-448A-4B88-54A7E72B3D82}"/>
              </a:ext>
            </a:extLst>
          </p:cNvPr>
          <p:cNvSpPr txBox="1"/>
          <p:nvPr/>
        </p:nvSpPr>
        <p:spPr>
          <a:xfrm>
            <a:off x="8093413" y="5612860"/>
            <a:ext cx="189689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F(n) = 3+0=3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377992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212</TotalTime>
  <Words>563</Words>
  <Application>Microsoft Office PowerPoint</Application>
  <PresentationFormat>Widescreen</PresentationFormat>
  <Paragraphs>164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Tw Cen MT</vt:lpstr>
      <vt:lpstr>Tw Cen MT Condensed</vt:lpstr>
      <vt:lpstr>Wingdings 3</vt:lpstr>
      <vt:lpstr>Integral</vt:lpstr>
      <vt:lpstr>: الاسم   مي ابراهيم احمد عبد الرحيم   سكشن  : 9 </vt:lpstr>
      <vt:lpstr>Project Name : </vt:lpstr>
      <vt:lpstr>Description : </vt:lpstr>
      <vt:lpstr>Why the project is chosen ? </vt:lpstr>
      <vt:lpstr>Importance : </vt:lpstr>
      <vt:lpstr>Project goal: </vt:lpstr>
      <vt:lpstr>Related Work : </vt:lpstr>
      <vt:lpstr>The algorithm used in the project : </vt:lpstr>
      <vt:lpstr>PEAS for this project  : </vt:lpstr>
      <vt:lpstr>ODESA for this project : </vt:lpstr>
      <vt:lpstr>What is the type of agent program ? </vt:lpstr>
      <vt:lpstr>PROBLEM FORMULATION</vt:lpstr>
      <vt:lpstr>Problem formulation </vt:lpstr>
      <vt:lpstr>PROBLEM FORMULATION </vt:lpstr>
      <vt:lpstr>Problem Formulation </vt:lpstr>
      <vt:lpstr>PROBLEM FORMULATION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m9593412@gmail.com</dc:creator>
  <cp:lastModifiedBy>m9593412@gmail.com</cp:lastModifiedBy>
  <cp:revision>3</cp:revision>
  <dcterms:created xsi:type="dcterms:W3CDTF">2026-03-09T01:09:15Z</dcterms:created>
  <dcterms:modified xsi:type="dcterms:W3CDTF">2026-04-22T22:21:22Z</dcterms:modified>
</cp:coreProperties>
</file>